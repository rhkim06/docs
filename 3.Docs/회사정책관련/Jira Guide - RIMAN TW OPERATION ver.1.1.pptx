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276" r:id="rId3"/>
    <p:sldId id="288" r:id="rId4"/>
    <p:sldId id="278" r:id="rId5"/>
    <p:sldId id="281" r:id="rId6"/>
    <p:sldId id="289" r:id="rId7"/>
    <p:sldId id="283" r:id="rId8"/>
    <p:sldId id="285" r:id="rId9"/>
    <p:sldId id="286" r:id="rId10"/>
    <p:sldId id="287" r:id="rId11"/>
    <p:sldId id="290" r:id="rId12"/>
    <p:sldId id="282" r:id="rId13"/>
    <p:sldId id="291" r:id="rId14"/>
    <p:sldId id="292" r:id="rId15"/>
    <p:sldId id="294" r:id="rId16"/>
    <p:sldId id="295" r:id="rId17"/>
    <p:sldId id="296" r:id="rId18"/>
    <p:sldId id="297" r:id="rId19"/>
    <p:sldId id="298" r:id="rId20"/>
    <p:sldId id="299" r:id="rId21"/>
    <p:sldId id="30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68CD3-B8BE-F04C-4433-0C8D08365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AA6261-32A9-5F0B-20DF-A99233D6F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6E0D5-55C8-01DB-BC8B-5E15C5B1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8C5E3C-F137-6DF6-15DC-319F70DB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9EF0F8-FC32-288F-EFC5-93229968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79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A62C1-45E6-E190-A724-36258D8F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573A2B-35F9-0B4C-D649-ED5A687E6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A9397E-8473-157B-103D-D1BBFCD7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2F2447-B44E-2698-0CA2-44FBBFF6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DDA2F-16AB-1A27-A9C9-758FBD18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80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B3E37-9188-DF32-F0DC-56ED85358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98A32C-90C2-6122-D268-57655DEE6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C7830-ABA6-1D74-07DA-AAA58D70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DD3ADC-67D0-711B-3538-70DE5AB7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47EDFD-F744-64C2-1AEA-3D7E4664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30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4F7CD-4AD7-40B9-145D-64B7303EB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461F9E-E8F3-5562-ED55-D2CCBDFBB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416767-09AA-7189-0AB9-D1DDE4517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225AEE-A36B-C3EA-75B1-F57A6EB0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56A2E0-2F31-45F6-4119-BC2D2DDB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58E9EA-ABB0-1FD0-6B0C-25C39260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219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B2D2F-5435-A98E-65FF-1E1BA230B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332FB-D460-890D-18C0-51D7FD90D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BCAA02-26EC-2E81-DF74-3FA875260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BC6754-9CE6-0D3F-0BBC-AC47C89BF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2F2055-E775-F91E-6202-7A41714DB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01187A-AA1A-0585-F6D1-63A169BD0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8A2691-2002-9271-2FB4-8C7B912D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E35BE7-BB65-D490-64A8-5FBF2EC5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85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E0BE2-F625-09B3-BDED-BA77AD18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AB81D2-94E1-7AF9-E58C-E08F0900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74B9B2-6BAE-9348-60D9-206C6308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DC146E-59BF-8EA7-D738-EF7DB3E6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89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AB8DB0-A7E7-E2F7-B63C-5505EF7F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A215A8-A706-93C3-6A16-8C55B0CE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20833-FFB1-CF55-4548-8A21598C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06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FD69A-B317-7EB1-45F7-A9000B5C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2F786-245F-B3E3-1AFD-8C5FF5F55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6F1A82-552B-EAA8-358A-A7F2F8B1B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4C7212-9F58-DD8F-38AB-FE9F816B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1A5CA9-18AA-6881-51CF-7078A368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F8C279-B765-E8BC-45D3-AF86053E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6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5B2A1-6776-F661-77E3-DB8C7863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27C9D09-65B8-1CE0-5EB5-E17C47191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241818-54B8-7521-F85D-424050A02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421850-4CBC-89E7-4F7D-AE10E76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42D4F1-2809-6D50-D40E-46A3D00B1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B9F878-F33B-95A7-0948-35168BD8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2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56CE8-8E56-DBB2-A8DA-4B94DD97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4C7A5A-AA4E-09CC-CD67-5BBA56551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3D0886-F2AF-58F0-A75D-CA26E18A4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EA7694-466A-C90E-A2D6-089E7183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8E2310-5488-4BB2-C9BC-752E19D1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07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CF6193-9C07-B8AD-2877-34377ADED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0EF3DB-654E-E751-4830-A86EE733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C8003F-9162-440B-C7AD-5B014D47A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CCD0E5-4BD7-335F-8648-AFA0F3C9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6BFB42-A3FC-F4CF-D883-F99196C2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21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445263-B8F5-BF71-7086-9374F43A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5906D2-6037-A866-E8FE-D31960370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E07374-A35B-8F07-19F3-A2ACDD4A2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A6B25-589B-4785-A642-BE3BC492946A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3BCB8-FCC9-0317-0E88-DA35701F2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899A84-C7E1-E77D-FA25-F3BF46E0B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D5899-5B45-4612-A344-9272C9E8CE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35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6B6C5-665A-EC1E-A3E5-00295B5BB67A}"/>
              </a:ext>
            </a:extLst>
          </p:cNvPr>
          <p:cNvSpPr txBox="1"/>
          <p:nvPr/>
        </p:nvSpPr>
        <p:spPr>
          <a:xfrm>
            <a:off x="0" y="2958181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600" b="1" u="sng" dirty="0">
                <a:solidFill>
                  <a:srgbClr val="374151"/>
                </a:solidFill>
                <a:latin typeface="Söhne"/>
              </a:rPr>
              <a:t>Jira Guide - TW Operation</a:t>
            </a:r>
            <a:endParaRPr lang="en-US" altLang="ko-KR" sz="6600" b="1" i="0" u="sng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9124A7-A8DB-94D0-0BE3-98E14FDF4598}"/>
              </a:ext>
            </a:extLst>
          </p:cNvPr>
          <p:cNvSpPr txBox="1"/>
          <p:nvPr/>
        </p:nvSpPr>
        <p:spPr>
          <a:xfrm>
            <a:off x="9349620" y="4748106"/>
            <a:ext cx="2842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/>
              <a:t>DX Global Planning Team</a:t>
            </a:r>
          </a:p>
          <a:p>
            <a:pPr algn="r"/>
            <a:r>
              <a:rPr lang="en-US" altLang="ko-KR"/>
              <a:t>DaeHyun </a:t>
            </a:r>
            <a:r>
              <a:rPr lang="en-US" altLang="ko-KR" dirty="0"/>
              <a:t>Kim</a:t>
            </a:r>
          </a:p>
          <a:p>
            <a:pPr algn="r"/>
            <a:r>
              <a:rPr lang="en-US" altLang="ko-KR" dirty="0"/>
              <a:t>2024-01-26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324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F2E97766-B041-379F-F822-C1F3E5905A95}"/>
              </a:ext>
            </a:extLst>
          </p:cNvPr>
          <p:cNvSpPr/>
          <p:nvPr/>
        </p:nvSpPr>
        <p:spPr>
          <a:xfrm>
            <a:off x="114250" y="3757246"/>
            <a:ext cx="6479979" cy="25035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1400" b="1" i="0" u="sng" dirty="0">
                <a:solidFill>
                  <a:srgbClr val="374151"/>
                </a:solidFill>
                <a:effectLst/>
                <a:latin typeface="Söhne"/>
              </a:rPr>
              <a:t>Benefits of using Jira for collaboration</a:t>
            </a:r>
          </a:p>
          <a:p>
            <a:pPr algn="l"/>
            <a:endParaRPr lang="en-US" altLang="ko-KR" sz="8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Centralized Task Tracking: </a:t>
            </a:r>
          </a:p>
          <a:p>
            <a:pPr algn="l"/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Jira allows centralized tracking of all tasks and work, enabling real-time monitoring of progress among team members.</a:t>
            </a:r>
          </a:p>
          <a:p>
            <a:pPr algn="l"/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pPr algn="l"/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Efficient Issue Management: </a:t>
            </a:r>
          </a:p>
          <a:p>
            <a:pPr algn="l"/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Utilizing Jira to systematically manage issues, ensuring swift response and resolution.</a:t>
            </a:r>
          </a:p>
          <a:p>
            <a:pPr algn="l"/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pPr algn="l"/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Real-time Collaboration:</a:t>
            </a:r>
          </a:p>
          <a:p>
            <a:pPr algn="l"/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Facilitating real-time collaboration among team members to enhance communication and ensure transparency in projects.</a:t>
            </a:r>
          </a:p>
          <a:p>
            <a:pPr algn="l"/>
            <a:endParaRPr lang="en-US" altLang="ko-KR" sz="8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Robust Reporting and Analysis: </a:t>
            </a:r>
          </a:p>
          <a:p>
            <a:pPr algn="l"/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Jira provides various reporting and analysis features for monitoring project progress and supporting future planning.</a:t>
            </a:r>
          </a:p>
          <a:p>
            <a:pPr algn="l"/>
            <a:endParaRPr lang="en-US" altLang="ko-KR" sz="800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Enhanced Individual and Team Productivity: </a:t>
            </a:r>
          </a:p>
          <a:p>
            <a:pPr algn="l"/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Improving individual and team productivity through powerful features and an intuitive interface, streamlining work performance.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340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Purpose of using Jira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6E226B7-625F-14A1-6DE2-8E32F07F1C41}"/>
              </a:ext>
            </a:extLst>
          </p:cNvPr>
          <p:cNvSpPr/>
          <p:nvPr/>
        </p:nvSpPr>
        <p:spPr>
          <a:xfrm>
            <a:off x="114251" y="996461"/>
            <a:ext cx="6479980" cy="26735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i="0" u="sng" dirty="0">
                <a:solidFill>
                  <a:srgbClr val="374151"/>
                </a:solidFill>
                <a:effectLst/>
                <a:latin typeface="Söhne"/>
              </a:rPr>
              <a:t>Limits and </a:t>
            </a:r>
            <a:r>
              <a:rPr lang="en-US" altLang="ko-KR" sz="1400" b="1" u="sng" dirty="0">
                <a:solidFill>
                  <a:srgbClr val="374151"/>
                </a:solidFill>
                <a:latin typeface="Söhne"/>
              </a:rPr>
              <a:t>drawbacks </a:t>
            </a:r>
            <a:r>
              <a:rPr lang="en-US" altLang="ko-KR" sz="1400" b="1" i="0" u="sng" dirty="0">
                <a:solidFill>
                  <a:srgbClr val="374151"/>
                </a:solidFill>
                <a:effectLst/>
                <a:latin typeface="Söhne"/>
              </a:rPr>
              <a:t>of colla</a:t>
            </a:r>
            <a:r>
              <a:rPr lang="en-US" altLang="ko-KR" sz="1400" b="1" u="sng" dirty="0">
                <a:solidFill>
                  <a:srgbClr val="374151"/>
                </a:solidFill>
                <a:latin typeface="Söhne"/>
              </a:rPr>
              <a:t>borating through email and Google Sheets</a:t>
            </a:r>
          </a:p>
          <a:p>
            <a:endParaRPr lang="en-US" altLang="ko-KR" sz="8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Lack of Real-Time Collaboration:</a:t>
            </a:r>
          </a:p>
          <a:p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Email is an asynchronous communication method.</a:t>
            </a:r>
          </a:p>
          <a:p>
            <a:endParaRPr lang="en-US" altLang="ko-KR" sz="8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Difficulty in Version Control:</a:t>
            </a:r>
          </a:p>
          <a:p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Tracking and managing changes in email attachments or Google Sheets makes it difficult to keep track of versions or modifications made to the work.</a:t>
            </a:r>
          </a:p>
          <a:p>
            <a:endParaRPr lang="en-US" altLang="ko-KR" sz="8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Absence of Integrated Task Management:</a:t>
            </a:r>
          </a:p>
          <a:p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There are limitations in handling workflows, to-do lists, and schedules in an integrated manner.</a:t>
            </a:r>
          </a:p>
          <a:p>
            <a:endParaRPr lang="en-US" altLang="ko-KR" sz="8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Security Concerns: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T</a:t>
            </a:r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here can be issues related to access permissions and security.</a:t>
            </a:r>
          </a:p>
          <a:p>
            <a:endParaRPr lang="en-US" altLang="ko-KR" sz="800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-US" altLang="ko-KR" sz="800" b="1" i="0" dirty="0">
                <a:solidFill>
                  <a:srgbClr val="374151"/>
                </a:solidFill>
                <a:effectLst/>
                <a:latin typeface="Söhne"/>
              </a:rPr>
              <a:t>Decreased Efficiency:</a:t>
            </a:r>
          </a:p>
          <a:p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Inefficient communication and task management can lead to decreased efficiency in collaboration.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6B6C5-665A-EC1E-A3E5-00295B5BB67A}"/>
              </a:ext>
            </a:extLst>
          </p:cNvPr>
          <p:cNvSpPr txBox="1"/>
          <p:nvPr/>
        </p:nvSpPr>
        <p:spPr>
          <a:xfrm>
            <a:off x="114250" y="418039"/>
            <a:ext cx="7707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374151"/>
                </a:solidFill>
                <a:latin typeface="Söhne"/>
              </a:rPr>
              <a:t>T</a:t>
            </a:r>
            <a:r>
              <a:rPr lang="en-US" altLang="ko-KR" sz="1800" b="0" i="0" dirty="0">
                <a:solidFill>
                  <a:srgbClr val="374151"/>
                </a:solidFill>
                <a:effectLst/>
                <a:latin typeface="Söhne"/>
              </a:rPr>
              <a:t>o enhance efficient and systematic project management and collaboration.</a:t>
            </a:r>
            <a:endParaRPr lang="en-US" altLang="ko-KR" sz="1800" b="1" i="0" u="sng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64756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6B6C5-665A-EC1E-A3E5-00295B5BB67A}"/>
              </a:ext>
            </a:extLst>
          </p:cNvPr>
          <p:cNvSpPr txBox="1"/>
          <p:nvPr/>
        </p:nvSpPr>
        <p:spPr>
          <a:xfrm>
            <a:off x="0" y="2958181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600" dirty="0">
                <a:solidFill>
                  <a:srgbClr val="374151"/>
                </a:solidFill>
                <a:latin typeface="Söhne"/>
              </a:rPr>
              <a:t>Create </a:t>
            </a:r>
            <a:r>
              <a:rPr lang="en-US" altLang="ko-KR" sz="6600" b="1" dirty="0">
                <a:solidFill>
                  <a:srgbClr val="374151"/>
                </a:solidFill>
                <a:latin typeface="Söhne"/>
              </a:rPr>
              <a:t>INQUIRY</a:t>
            </a:r>
            <a:r>
              <a:rPr lang="en-US" altLang="ko-KR" sz="6600" dirty="0">
                <a:solidFill>
                  <a:srgbClr val="374151"/>
                </a:solidFill>
                <a:latin typeface="Söhne"/>
              </a:rPr>
              <a:t> tickets</a:t>
            </a:r>
            <a:endParaRPr lang="en-US" altLang="ko-KR" sz="6600" b="1" i="0" u="sng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93108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>
            <a:extLst>
              <a:ext uri="{FF2B5EF4-FFF2-40B4-BE49-F238E27FC236}">
                <a16:creationId xmlns:a16="http://schemas.microsoft.com/office/drawing/2014/main" id="{7C1DC95C-ABDD-46C1-F8CF-12A21E10C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28" y="153879"/>
            <a:ext cx="7105650" cy="79057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287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Create INQUIRY Ticket #1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5696373" y="1583314"/>
            <a:ext cx="6272106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*Creating an INQUIRY ticket</a:t>
            </a:r>
          </a:p>
          <a:p>
            <a:endParaRPr lang="en-US" altLang="ko-KR" sz="800" b="1" u="sng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b="1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</a:t>
            </a:r>
            <a:r>
              <a:rPr lang="en-US" altLang="ko-KR" sz="800" b="1" i="0" u="sng" dirty="0">
                <a:solidFill>
                  <a:srgbClr val="374151"/>
                </a:solidFill>
                <a:effectLst/>
                <a:latin typeface="Söhne"/>
              </a:rPr>
              <a:t>Create Ticket (issue):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“Create” at the top to start creating a ticket.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Issue type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Select “Inquiry”.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Components</a:t>
            </a:r>
          </a:p>
          <a:p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Select the relevant category for your inquiry.</a:t>
            </a:r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4. Priority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Choose a priority, depending on the urgency of the inquiry.</a:t>
            </a:r>
          </a:p>
          <a:p>
            <a:endParaRPr lang="en-US" altLang="ko-KR" sz="800" b="1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5. Summary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Enter</a:t>
            </a:r>
            <a:r>
              <a:rPr lang="ko-KR" altLang="en-US" sz="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a</a:t>
            </a:r>
            <a:r>
              <a:rPr lang="ko-KR" altLang="en-US" sz="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one-line summary (used at a title in other pages).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6. Description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Enter your question details.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Please be as specific as possible.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b="0" i="0" dirty="0">
              <a:solidFill>
                <a:srgbClr val="FF0000"/>
              </a:solidFill>
              <a:effectLst/>
              <a:latin typeface="Söhne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CA73589-2AAA-D7F3-A5B6-31B1282C2AC5}"/>
              </a:ext>
            </a:extLst>
          </p:cNvPr>
          <p:cNvGrpSpPr/>
          <p:nvPr/>
        </p:nvGrpSpPr>
        <p:grpSpPr>
          <a:xfrm>
            <a:off x="114250" y="1287115"/>
            <a:ext cx="5349449" cy="4571785"/>
            <a:chOff x="114250" y="1287115"/>
            <a:chExt cx="5349449" cy="4571785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07D1CE56-1534-8C04-1C11-3E1E4B2E6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250" y="1287115"/>
              <a:ext cx="3850289" cy="291945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3643D7CB-5867-27DD-5F71-151FBC734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4920" y="1583314"/>
              <a:ext cx="4198779" cy="427558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C14F3A4-EA42-26C5-7EA2-08A9981AC746}"/>
              </a:ext>
            </a:extLst>
          </p:cNvPr>
          <p:cNvSpPr/>
          <p:nvPr/>
        </p:nvSpPr>
        <p:spPr>
          <a:xfrm>
            <a:off x="3322624" y="1312619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59D9D1D-AD47-A953-9FE1-AAA0520825A8}"/>
              </a:ext>
            </a:extLst>
          </p:cNvPr>
          <p:cNvSpPr/>
          <p:nvPr/>
        </p:nvSpPr>
        <p:spPr>
          <a:xfrm>
            <a:off x="1076212" y="279218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C5DEFB3-3E64-193E-AF81-FE5A7B7EAF15}"/>
              </a:ext>
            </a:extLst>
          </p:cNvPr>
          <p:cNvSpPr/>
          <p:nvPr/>
        </p:nvSpPr>
        <p:spPr>
          <a:xfrm>
            <a:off x="1076212" y="3524738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7F1CA53-BB25-379F-5872-2D70FF76C04D}"/>
              </a:ext>
            </a:extLst>
          </p:cNvPr>
          <p:cNvSpPr/>
          <p:nvPr/>
        </p:nvSpPr>
        <p:spPr>
          <a:xfrm>
            <a:off x="1077965" y="3954608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4</a:t>
            </a:r>
            <a:endParaRPr lang="ko-KR" altLang="en-US" sz="5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A57AC9D-A5BA-A46F-C1D3-2A0166A962FB}"/>
              </a:ext>
            </a:extLst>
          </p:cNvPr>
          <p:cNvSpPr/>
          <p:nvPr/>
        </p:nvSpPr>
        <p:spPr>
          <a:xfrm>
            <a:off x="1076272" y="4534152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5</a:t>
            </a:r>
            <a:endParaRPr lang="ko-KR" altLang="en-US" sz="5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EAFB608-BFD8-E417-C3D9-7E7FEF8A88D2}"/>
              </a:ext>
            </a:extLst>
          </p:cNvPr>
          <p:cNvSpPr/>
          <p:nvPr/>
        </p:nvSpPr>
        <p:spPr>
          <a:xfrm>
            <a:off x="1091511" y="4968271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6</a:t>
            </a:r>
            <a:endParaRPr lang="ko-KR" altLang="en-US" sz="5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86DC7E-C0A4-EFD0-8482-C1DA38821B94}"/>
              </a:ext>
            </a:extLst>
          </p:cNvPr>
          <p:cNvSpPr/>
          <p:nvPr/>
        </p:nvSpPr>
        <p:spPr>
          <a:xfrm>
            <a:off x="4572051" y="153879"/>
            <a:ext cx="2499310" cy="834077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6143CC6-E4B1-03E4-0ED8-023B32AA7507}"/>
              </a:ext>
            </a:extLst>
          </p:cNvPr>
          <p:cNvSpPr/>
          <p:nvPr/>
        </p:nvSpPr>
        <p:spPr>
          <a:xfrm>
            <a:off x="1349837" y="2793178"/>
            <a:ext cx="1908136" cy="26211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4A95AFC-CA4E-3A43-2F00-7EDD70484A6D}"/>
              </a:ext>
            </a:extLst>
          </p:cNvPr>
          <p:cNvSpPr/>
          <p:nvPr/>
        </p:nvSpPr>
        <p:spPr>
          <a:xfrm>
            <a:off x="1349837" y="3519591"/>
            <a:ext cx="1908136" cy="26211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5194B92-7142-DB95-28D4-D14D02F13FA3}"/>
              </a:ext>
            </a:extLst>
          </p:cNvPr>
          <p:cNvSpPr/>
          <p:nvPr/>
        </p:nvSpPr>
        <p:spPr>
          <a:xfrm>
            <a:off x="1349837" y="3955601"/>
            <a:ext cx="1908136" cy="26211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5ACE92F-05F1-D491-7888-B153031ADD9E}"/>
              </a:ext>
            </a:extLst>
          </p:cNvPr>
          <p:cNvSpPr/>
          <p:nvPr/>
        </p:nvSpPr>
        <p:spPr>
          <a:xfrm>
            <a:off x="1349837" y="4528372"/>
            <a:ext cx="4041736" cy="26211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FFAC2B4-2133-67CB-367A-474036F7E52A}"/>
              </a:ext>
            </a:extLst>
          </p:cNvPr>
          <p:cNvSpPr/>
          <p:nvPr/>
        </p:nvSpPr>
        <p:spPr>
          <a:xfrm>
            <a:off x="1360301" y="4970087"/>
            <a:ext cx="4031272" cy="7751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FE862E6-9379-1041-C193-E7EEAF3777FC}"/>
              </a:ext>
            </a:extLst>
          </p:cNvPr>
          <p:cNvSpPr/>
          <p:nvPr/>
        </p:nvSpPr>
        <p:spPr>
          <a:xfrm>
            <a:off x="3586783" y="1312619"/>
            <a:ext cx="334977" cy="21998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E8517DF7-E08C-935B-F161-427BC92AE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765" y="2417110"/>
            <a:ext cx="1030182" cy="14344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6793BFF-DA24-D7F3-93F4-D28F97E96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428" y="1980662"/>
            <a:ext cx="822855" cy="16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1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3FC45EFA-18C5-BB42-3D33-856B352CA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28" y="153879"/>
            <a:ext cx="7105650" cy="7905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9CBD8AD-79A6-A333-065F-7E128A2B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46" y="1657012"/>
            <a:ext cx="5410216" cy="40145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287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Create INQUIRY Ticket #2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6558261" y="1583314"/>
            <a:ext cx="5410217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7. Attachment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you have documents that could help NTQ understand your inquiry, attach them.</a:t>
            </a:r>
          </a:p>
          <a:p>
            <a:endParaRPr lang="en-US" altLang="ko-KR" sz="800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8. Linked Issues (Optional)</a:t>
            </a:r>
          </a:p>
          <a:p>
            <a:r>
              <a:rPr lang="en-US" altLang="ko-KR" sz="800" i="0" dirty="0">
                <a:solidFill>
                  <a:srgbClr val="374151"/>
                </a:solidFill>
                <a:effectLst/>
                <a:latin typeface="Söhne"/>
              </a:rPr>
              <a:t>If 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your inquiry is related to other tickets, set up a link to the tickets.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This action could help NTQ understand your inquiry.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9. Reporter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Your name would be displayed in the box, and you should leave it as it is.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10. Assignee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Select PM you would assign the ticket to (</a:t>
            </a:r>
            <a:r>
              <a:rPr lang="en-US" altLang="ko-KR" sz="800" dirty="0" err="1">
                <a:solidFill>
                  <a:srgbClr val="374151"/>
                </a:solidFill>
                <a:latin typeface="Söhne"/>
              </a:rPr>
              <a:t>Minsu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 Kim or Alex).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- </a:t>
            </a:r>
            <a:r>
              <a:rPr lang="en-US" altLang="ko-KR" sz="800" dirty="0" err="1">
                <a:solidFill>
                  <a:srgbClr val="374151"/>
                </a:solidFill>
                <a:latin typeface="Söhne"/>
              </a:rPr>
              <a:t>Minsu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 Kim  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	                       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- Alex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11. Referrer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Select anyone who you think is relevant to the inquiry.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12. Create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the button to finish creating the ticket.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*Once an INQUIRY ticket has been created, the assignee will be reviewing your inquiry.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359992" y="1791581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7</a:t>
            </a:r>
            <a:endParaRPr lang="ko-KR" altLang="en-US" sz="5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37AF89-C7DF-65FC-8495-9927E1E668BE}"/>
              </a:ext>
            </a:extLst>
          </p:cNvPr>
          <p:cNvSpPr/>
          <p:nvPr/>
        </p:nvSpPr>
        <p:spPr>
          <a:xfrm>
            <a:off x="387084" y="3358129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9</a:t>
            </a:r>
            <a:endParaRPr lang="ko-KR" altLang="en-US" sz="5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B86850-C698-EAC8-E069-D5780CA1461F}"/>
              </a:ext>
            </a:extLst>
          </p:cNvPr>
          <p:cNvSpPr/>
          <p:nvPr/>
        </p:nvSpPr>
        <p:spPr>
          <a:xfrm>
            <a:off x="366765" y="3965873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10</a:t>
            </a:r>
            <a:endParaRPr lang="ko-KR" altLang="en-US" sz="5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87C83C-2C05-9C1E-ED5C-9B01E20C5F14}"/>
              </a:ext>
            </a:extLst>
          </p:cNvPr>
          <p:cNvSpPr/>
          <p:nvPr/>
        </p:nvSpPr>
        <p:spPr>
          <a:xfrm>
            <a:off x="375716" y="4731583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11</a:t>
            </a:r>
            <a:endParaRPr lang="ko-KR" altLang="en-US" sz="5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341435-7E9F-9865-C648-DEEB4AFFE168}"/>
              </a:ext>
            </a:extLst>
          </p:cNvPr>
          <p:cNvSpPr/>
          <p:nvPr/>
        </p:nvSpPr>
        <p:spPr>
          <a:xfrm>
            <a:off x="5215264" y="5419073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12</a:t>
            </a:r>
            <a:endParaRPr lang="ko-KR" altLang="en-US" sz="5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BD236E-BE69-E7F6-0004-742691937A73}"/>
              </a:ext>
            </a:extLst>
          </p:cNvPr>
          <p:cNvSpPr/>
          <p:nvPr/>
        </p:nvSpPr>
        <p:spPr>
          <a:xfrm>
            <a:off x="5592547" y="103382"/>
            <a:ext cx="1546546" cy="84522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C5EBF1B-AA4D-A336-DA7C-D46EC46A8807}"/>
              </a:ext>
            </a:extLst>
          </p:cNvPr>
          <p:cNvSpPr/>
          <p:nvPr/>
        </p:nvSpPr>
        <p:spPr>
          <a:xfrm>
            <a:off x="627958" y="1793569"/>
            <a:ext cx="5203882" cy="394007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E96A0F-7AD8-B161-565C-2D31003C5174}"/>
              </a:ext>
            </a:extLst>
          </p:cNvPr>
          <p:cNvSpPr/>
          <p:nvPr/>
        </p:nvSpPr>
        <p:spPr>
          <a:xfrm>
            <a:off x="634732" y="2465798"/>
            <a:ext cx="2514868" cy="26211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3F9A56B-90AB-079E-C363-20FA7924B87B}"/>
              </a:ext>
            </a:extLst>
          </p:cNvPr>
          <p:cNvSpPr/>
          <p:nvPr/>
        </p:nvSpPr>
        <p:spPr>
          <a:xfrm>
            <a:off x="634731" y="2806980"/>
            <a:ext cx="2505131" cy="26211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366765" y="246552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8</a:t>
            </a:r>
            <a:endParaRPr lang="ko-KR" altLang="en-US" sz="5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E1005B-5B8C-4B14-8135-98CEC0C0E0DF}"/>
              </a:ext>
            </a:extLst>
          </p:cNvPr>
          <p:cNvSpPr/>
          <p:nvPr/>
        </p:nvSpPr>
        <p:spPr>
          <a:xfrm>
            <a:off x="644471" y="3362480"/>
            <a:ext cx="2495392" cy="32039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3F843D8-B501-E184-754F-3967646594BA}"/>
              </a:ext>
            </a:extLst>
          </p:cNvPr>
          <p:cNvSpPr/>
          <p:nvPr/>
        </p:nvSpPr>
        <p:spPr>
          <a:xfrm>
            <a:off x="634731" y="3972163"/>
            <a:ext cx="2505131" cy="30134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45009CB-02BC-7993-4A17-A95F074451EC}"/>
              </a:ext>
            </a:extLst>
          </p:cNvPr>
          <p:cNvSpPr/>
          <p:nvPr/>
        </p:nvSpPr>
        <p:spPr>
          <a:xfrm>
            <a:off x="644471" y="4732508"/>
            <a:ext cx="2505130" cy="32039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15AA0D1A-16EB-90AB-15A0-74214F8EA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805" y="3464359"/>
            <a:ext cx="1200150" cy="28575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2843AFB-2205-991F-37F1-639834EB9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805" y="4050511"/>
            <a:ext cx="14192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6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6B6C5-665A-EC1E-A3E5-00295B5BB67A}"/>
              </a:ext>
            </a:extLst>
          </p:cNvPr>
          <p:cNvSpPr txBox="1"/>
          <p:nvPr/>
        </p:nvSpPr>
        <p:spPr>
          <a:xfrm>
            <a:off x="0" y="2958181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600" dirty="0">
                <a:solidFill>
                  <a:srgbClr val="374151"/>
                </a:solidFill>
                <a:latin typeface="Söhne"/>
              </a:rPr>
              <a:t>Manage </a:t>
            </a:r>
            <a:r>
              <a:rPr lang="en-US" altLang="ko-KR" sz="6600" b="1" dirty="0">
                <a:solidFill>
                  <a:srgbClr val="374151"/>
                </a:solidFill>
                <a:latin typeface="Söhne"/>
              </a:rPr>
              <a:t>INQUIRY</a:t>
            </a:r>
            <a:r>
              <a:rPr lang="en-US" altLang="ko-KR" sz="6600" dirty="0">
                <a:solidFill>
                  <a:srgbClr val="374151"/>
                </a:solidFill>
                <a:latin typeface="Söhne"/>
              </a:rPr>
              <a:t> tickets</a:t>
            </a:r>
            <a:endParaRPr lang="en-US" altLang="ko-KR" sz="6600" b="1" i="0" u="sng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548981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B4338CA7-9D45-8C6C-70A6-C732A3C55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828" y="170057"/>
            <a:ext cx="7105650" cy="7905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437444C-B59F-6B30-1837-52C8103B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" y="1828343"/>
            <a:ext cx="1838325" cy="44291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A10E17-C6F7-46EF-1406-D4FE3DD0E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446" y="1202006"/>
            <a:ext cx="6461856" cy="77174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543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Find and Manage Tickets #1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5044057" y="2222645"/>
            <a:ext cx="5410217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*How to find an INQUIRY ticket</a:t>
            </a: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 </a:t>
            </a:r>
          </a:p>
          <a:p>
            <a:endParaRPr lang="en-US" altLang="ko-KR" sz="800" b="1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To see ALL Tickets (Issues)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“Issues” at the top and you will be able to see a whole list of all tickets (issues)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To see Tickets assigned to you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“My open issues” to see tickets that are assigned to you 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(waiting for your part to be done or waiting for your reply)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To see Tickets created by you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“Reported by me” to see tickets that are created by you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5575458" y="1197494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1153281" y="361074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341435-7E9F-9865-C648-DEEB4AFFE168}"/>
              </a:ext>
            </a:extLst>
          </p:cNvPr>
          <p:cNvSpPr/>
          <p:nvPr/>
        </p:nvSpPr>
        <p:spPr>
          <a:xfrm>
            <a:off x="1153281" y="3928620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3F2A4B-AC9F-DA27-0E81-75FC48A184A7}"/>
              </a:ext>
            </a:extLst>
          </p:cNvPr>
          <p:cNvSpPr/>
          <p:nvPr/>
        </p:nvSpPr>
        <p:spPr>
          <a:xfrm>
            <a:off x="8850520" y="142735"/>
            <a:ext cx="1546546" cy="84522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3D8BF89-D4B0-F733-9EE3-BA10832BE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077" y="1282132"/>
            <a:ext cx="1503083" cy="29290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CB47631-AA01-8344-42A2-89F7A67AE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80" y="2569944"/>
            <a:ext cx="1116120" cy="21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2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D66FD92-D524-4BBD-71D2-425C068BD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02" y="143152"/>
            <a:ext cx="7105650" cy="7905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E13B83D-DDBB-6831-72FA-D4666A029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0" y="1121242"/>
            <a:ext cx="5575458" cy="170278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543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Find and Manage Tickets #2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6378404" y="1912835"/>
            <a:ext cx="5410217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*How to manage an INQUIRY ticket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Select a ticket 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one of the issues that is assigned to you.</a:t>
            </a:r>
          </a:p>
          <a:p>
            <a:endParaRPr lang="en-US" altLang="ko-KR" sz="800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Ticket screen</a:t>
            </a:r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Your web browser will take you to a screen where you can see all information about the ticket.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* Detailed explanation is in the next PPT.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5345341" y="197263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536764" y="3379893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3F2A4B-AC9F-DA27-0E81-75FC48A184A7}"/>
              </a:ext>
            </a:extLst>
          </p:cNvPr>
          <p:cNvSpPr/>
          <p:nvPr/>
        </p:nvSpPr>
        <p:spPr>
          <a:xfrm>
            <a:off x="8850520" y="142735"/>
            <a:ext cx="1546546" cy="84522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9154E1-ABF3-EA60-A231-4D28A164F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19" y="3379893"/>
            <a:ext cx="4004837" cy="339862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6DEAAF06-2E4A-9BB3-1E51-D955156C0EE3}"/>
              </a:ext>
            </a:extLst>
          </p:cNvPr>
          <p:cNvSpPr/>
          <p:nvPr/>
        </p:nvSpPr>
        <p:spPr>
          <a:xfrm>
            <a:off x="2491998" y="2835385"/>
            <a:ext cx="409981" cy="4008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237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429B0EBF-5046-F91A-BD5B-84644B4C3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468" y="170057"/>
            <a:ext cx="7105650" cy="7905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40A706B-90E8-CB22-72EA-B1563737A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0431"/>
            <a:ext cx="5140960" cy="315369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543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Find and Manage Tickets #3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6378404" y="1912835"/>
            <a:ext cx="5410217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*Understanding the ticket screen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Index number of the ticket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Ticket number automatically generated when the ticket is created.</a:t>
            </a:r>
          </a:p>
          <a:p>
            <a:endParaRPr lang="en-US" altLang="ko-KR" sz="800" b="1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Summary</a:t>
            </a:r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What you entered in the summary field when creating the ticket will be shown here.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Description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What you have entered in the description field when creating the ticket will be shown here.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4. Feedback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Questions or answers about the inquiry will be recorded here.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5. Returning Feedback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you need to reply, write your comments or attach files here.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(While writing a comment, enter @ and type a name to notify the person you answer to, for a hasten progress)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629059" y="1112243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2532364" y="1305069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341435-7E9F-9865-C648-DEEB4AFFE168}"/>
              </a:ext>
            </a:extLst>
          </p:cNvPr>
          <p:cNvSpPr/>
          <p:nvPr/>
        </p:nvSpPr>
        <p:spPr>
          <a:xfrm>
            <a:off x="2614004" y="1763877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3F2A4B-AC9F-DA27-0E81-75FC48A184A7}"/>
              </a:ext>
            </a:extLst>
          </p:cNvPr>
          <p:cNvSpPr/>
          <p:nvPr/>
        </p:nvSpPr>
        <p:spPr>
          <a:xfrm>
            <a:off x="8850520" y="142735"/>
            <a:ext cx="1546546" cy="84522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A18E26-63BF-0BEE-2930-EC0B2EED6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8" y="4264130"/>
            <a:ext cx="4334933" cy="179678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E8AA35-361A-0CAD-2505-1F5CB6EEC45F}"/>
              </a:ext>
            </a:extLst>
          </p:cNvPr>
          <p:cNvSpPr/>
          <p:nvPr/>
        </p:nvSpPr>
        <p:spPr>
          <a:xfrm>
            <a:off x="19817" y="1764238"/>
            <a:ext cx="2587916" cy="249989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DC3D15-D961-41FE-70E7-4CCE1E8683A7}"/>
              </a:ext>
            </a:extLst>
          </p:cNvPr>
          <p:cNvSpPr/>
          <p:nvPr/>
        </p:nvSpPr>
        <p:spPr>
          <a:xfrm>
            <a:off x="33003" y="1307252"/>
            <a:ext cx="2486677" cy="1820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32B502-4481-7606-9921-9FBCD9AD7B60}"/>
              </a:ext>
            </a:extLst>
          </p:cNvPr>
          <p:cNvSpPr/>
          <p:nvPr/>
        </p:nvSpPr>
        <p:spPr>
          <a:xfrm>
            <a:off x="33004" y="1110431"/>
            <a:ext cx="583370" cy="15377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3EA09A-763F-0DF4-2B07-FD3F7B5A1265}"/>
              </a:ext>
            </a:extLst>
          </p:cNvPr>
          <p:cNvSpPr/>
          <p:nvPr/>
        </p:nvSpPr>
        <p:spPr>
          <a:xfrm>
            <a:off x="39633" y="5642186"/>
            <a:ext cx="4315117" cy="77028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3879A5-FC4C-99F7-4F82-2B4DBB4CB6CA}"/>
              </a:ext>
            </a:extLst>
          </p:cNvPr>
          <p:cNvSpPr/>
          <p:nvPr/>
        </p:nvSpPr>
        <p:spPr>
          <a:xfrm>
            <a:off x="4364659" y="5642186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4</a:t>
            </a:r>
            <a:endParaRPr lang="ko-KR" altLang="en-US" sz="5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5AEA52-8A0F-321E-D5F7-AC7A74B05BD2}"/>
              </a:ext>
            </a:extLst>
          </p:cNvPr>
          <p:cNvSpPr/>
          <p:nvPr/>
        </p:nvSpPr>
        <p:spPr>
          <a:xfrm>
            <a:off x="39134" y="5290632"/>
            <a:ext cx="4328662" cy="31146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AD6BD7-89C0-DD21-93BC-C0CBFB6F0528}"/>
              </a:ext>
            </a:extLst>
          </p:cNvPr>
          <p:cNvSpPr/>
          <p:nvPr/>
        </p:nvSpPr>
        <p:spPr>
          <a:xfrm>
            <a:off x="4364659" y="5290632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5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829853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45E74C-CBAC-6861-FA2D-09734507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561" y="170057"/>
            <a:ext cx="7105650" cy="7905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5823FF0-E8C5-B449-63A1-0B723589E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217" y="1358473"/>
            <a:ext cx="3362833" cy="4583533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543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Find and Manage Tickets #4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4986849" y="1286480"/>
            <a:ext cx="5410217" cy="47882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*Changing Status and Assignee of the ticket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Status Change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When you finished reviewing the feedback from NTQ,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here to choose next action (by changing status).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*The list of drop-down options you will see when you click the Status.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     - If your inquiry is resolved: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change the status to “CLOSED”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     - If you have additional inquiry regarding the ticket’s topic: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change the status to “INQUIRY”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leave your comments</a:t>
            </a: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	- 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change the assignee to the person you want to answer</a:t>
            </a:r>
            <a:endParaRPr lang="en-US" altLang="ko-KR" sz="800" b="1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Assignee</a:t>
            </a:r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and enter the person who will take over the work.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Referrer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there are people you want to acknowledge of the ticket, enter the people’s name in this field.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1923765" y="1689570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3781770" y="2304732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341435-7E9F-9865-C648-DEEB4AFFE168}"/>
              </a:ext>
            </a:extLst>
          </p:cNvPr>
          <p:cNvSpPr/>
          <p:nvPr/>
        </p:nvSpPr>
        <p:spPr>
          <a:xfrm>
            <a:off x="3781836" y="2802087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3F2A4B-AC9F-DA27-0E81-75FC48A184A7}"/>
              </a:ext>
            </a:extLst>
          </p:cNvPr>
          <p:cNvSpPr/>
          <p:nvPr/>
        </p:nvSpPr>
        <p:spPr>
          <a:xfrm>
            <a:off x="10512213" y="142735"/>
            <a:ext cx="1496906" cy="845221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E8AA35-361A-0CAD-2505-1F5CB6EEC45F}"/>
              </a:ext>
            </a:extLst>
          </p:cNvPr>
          <p:cNvSpPr/>
          <p:nvPr/>
        </p:nvSpPr>
        <p:spPr>
          <a:xfrm>
            <a:off x="1288320" y="2807408"/>
            <a:ext cx="2486677" cy="22588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DC3D15-D961-41FE-70E7-4CCE1E8683A7}"/>
              </a:ext>
            </a:extLst>
          </p:cNvPr>
          <p:cNvSpPr/>
          <p:nvPr/>
        </p:nvSpPr>
        <p:spPr>
          <a:xfrm>
            <a:off x="1285976" y="2299883"/>
            <a:ext cx="2486677" cy="1820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32B502-4481-7606-9921-9FBCD9AD7B60}"/>
              </a:ext>
            </a:extLst>
          </p:cNvPr>
          <p:cNvSpPr/>
          <p:nvPr/>
        </p:nvSpPr>
        <p:spPr>
          <a:xfrm>
            <a:off x="1227392" y="1683940"/>
            <a:ext cx="684971" cy="16927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144F8B1-1B92-3DEF-4A38-E0F4F6CB5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174" y="2927363"/>
            <a:ext cx="16383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6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6B6C5-665A-EC1E-A3E5-00295B5BB67A}"/>
              </a:ext>
            </a:extLst>
          </p:cNvPr>
          <p:cNvSpPr txBox="1"/>
          <p:nvPr/>
        </p:nvSpPr>
        <p:spPr>
          <a:xfrm>
            <a:off x="0" y="2958181"/>
            <a:ext cx="12192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600" dirty="0">
                <a:solidFill>
                  <a:srgbClr val="374151"/>
                </a:solidFill>
                <a:latin typeface="Söhne"/>
              </a:rPr>
              <a:t>Create </a:t>
            </a:r>
            <a:r>
              <a:rPr lang="en-US" altLang="ko-KR" sz="6600" b="1" dirty="0">
                <a:solidFill>
                  <a:srgbClr val="374151"/>
                </a:solidFill>
                <a:latin typeface="Söhne"/>
              </a:rPr>
              <a:t>REQUEST</a:t>
            </a:r>
            <a:r>
              <a:rPr lang="en-US" altLang="ko-KR" sz="6600" dirty="0">
                <a:solidFill>
                  <a:srgbClr val="374151"/>
                </a:solidFill>
                <a:latin typeface="Söhne"/>
              </a:rPr>
              <a:t> tickets</a:t>
            </a:r>
          </a:p>
          <a:p>
            <a:pPr algn="ctr"/>
            <a:r>
              <a:rPr lang="en-US" altLang="ko-KR" sz="1600" dirty="0">
                <a:solidFill>
                  <a:srgbClr val="374151"/>
                </a:solidFill>
                <a:latin typeface="Söhne"/>
              </a:rPr>
              <a:t>(Bug report, design change request, improvement and other various requests with small complexity)</a:t>
            </a:r>
            <a:endParaRPr lang="en-US" altLang="ko-KR" sz="160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80947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F565626F-5E82-C1F3-52E2-ED5D39EDA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6" y="19422"/>
            <a:ext cx="6981825" cy="15621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5149408" y="1803464"/>
            <a:ext cx="6507499" cy="46709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Issue type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Select a corresponding request type.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Components</a:t>
            </a:r>
          </a:p>
          <a:p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Select the relevant category for your 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request</a:t>
            </a:r>
            <a:r>
              <a:rPr lang="en-US" altLang="ko-KR" sz="8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Priority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Choose a priority, depending on the urgency of the request.</a:t>
            </a:r>
          </a:p>
          <a:p>
            <a:endParaRPr lang="en-US" altLang="ko-KR" sz="800" b="1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4. Summary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Enter</a:t>
            </a:r>
            <a:r>
              <a:rPr lang="ko-KR" altLang="en-US" sz="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a</a:t>
            </a:r>
            <a:r>
              <a:rPr lang="ko-KR" altLang="en-US" sz="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one-line summary (used at a title in other pages).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5. Description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Enter your request in detail.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Please be as specific as possible.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6. File Attachment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you have any files that might help NTQ understand, please attach them here.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7. Change Reason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Select a reason for the request.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B99A7FF-1D6D-592A-C5FF-D4004D0E5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705" y="2220256"/>
            <a:ext cx="1168378" cy="6226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C30E416-1049-52AB-2F08-983FB4DDF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50" y="1004919"/>
            <a:ext cx="4289506" cy="546946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3396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Create REQUEST Ticket #1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2182436" y="2295814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2182436" y="303842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37AF89-C7DF-65FC-8495-9927E1E668BE}"/>
              </a:ext>
            </a:extLst>
          </p:cNvPr>
          <p:cNvSpPr/>
          <p:nvPr/>
        </p:nvSpPr>
        <p:spPr>
          <a:xfrm>
            <a:off x="2182436" y="3481022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B86850-C698-EAC8-E069-D5780CA1461F}"/>
              </a:ext>
            </a:extLst>
          </p:cNvPr>
          <p:cNvSpPr/>
          <p:nvPr/>
        </p:nvSpPr>
        <p:spPr>
          <a:xfrm>
            <a:off x="4306722" y="4069407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4</a:t>
            </a:r>
            <a:endParaRPr lang="ko-KR" altLang="en-US" sz="5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87C83C-2C05-9C1E-ED5C-9B01E20C5F14}"/>
              </a:ext>
            </a:extLst>
          </p:cNvPr>
          <p:cNvSpPr/>
          <p:nvPr/>
        </p:nvSpPr>
        <p:spPr>
          <a:xfrm>
            <a:off x="4305603" y="4490939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5</a:t>
            </a:r>
            <a:endParaRPr lang="ko-KR" altLang="en-US" sz="5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341435-7E9F-9865-C648-DEEB4AFFE168}"/>
              </a:ext>
            </a:extLst>
          </p:cNvPr>
          <p:cNvSpPr/>
          <p:nvPr/>
        </p:nvSpPr>
        <p:spPr>
          <a:xfrm>
            <a:off x="4305603" y="5542484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6</a:t>
            </a:r>
            <a:endParaRPr lang="ko-KR" altLang="en-US" sz="5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BD236E-BE69-E7F6-0004-742691937A73}"/>
              </a:ext>
            </a:extLst>
          </p:cNvPr>
          <p:cNvSpPr/>
          <p:nvPr/>
        </p:nvSpPr>
        <p:spPr>
          <a:xfrm>
            <a:off x="6248582" y="12689"/>
            <a:ext cx="1513658" cy="786564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1067E0-2C5E-1FB7-5F0E-09C3F4FE5BFB}"/>
              </a:ext>
            </a:extLst>
          </p:cNvPr>
          <p:cNvSpPr/>
          <p:nvPr/>
        </p:nvSpPr>
        <p:spPr>
          <a:xfrm>
            <a:off x="2182436" y="6059459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7</a:t>
            </a:r>
            <a:endParaRPr lang="ko-KR" altLang="en-US" sz="5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899EA6-580E-B1DB-4A5F-F7FEE45467FE}"/>
              </a:ext>
            </a:extLst>
          </p:cNvPr>
          <p:cNvSpPr/>
          <p:nvPr/>
        </p:nvSpPr>
        <p:spPr>
          <a:xfrm>
            <a:off x="238453" y="2295814"/>
            <a:ext cx="1943983" cy="169277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C6DF15-8AF1-50D5-DE93-7CB0C006E3B8}"/>
              </a:ext>
            </a:extLst>
          </p:cNvPr>
          <p:cNvSpPr/>
          <p:nvPr/>
        </p:nvSpPr>
        <p:spPr>
          <a:xfrm>
            <a:off x="238453" y="3038424"/>
            <a:ext cx="1943983" cy="169277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46E310-79DF-2A6C-A632-7FDC852096CA}"/>
              </a:ext>
            </a:extLst>
          </p:cNvPr>
          <p:cNvSpPr/>
          <p:nvPr/>
        </p:nvSpPr>
        <p:spPr>
          <a:xfrm>
            <a:off x="238452" y="3479448"/>
            <a:ext cx="1943983" cy="169277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51D445C-1C77-29DC-A8D0-980CF1787CC2}"/>
              </a:ext>
            </a:extLst>
          </p:cNvPr>
          <p:cNvSpPr/>
          <p:nvPr/>
        </p:nvSpPr>
        <p:spPr>
          <a:xfrm>
            <a:off x="238453" y="4073410"/>
            <a:ext cx="4057836" cy="16219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5DC7EB-0F22-E75E-7B2D-7E6D6DF34B10}"/>
              </a:ext>
            </a:extLst>
          </p:cNvPr>
          <p:cNvSpPr/>
          <p:nvPr/>
        </p:nvSpPr>
        <p:spPr>
          <a:xfrm>
            <a:off x="238453" y="4490939"/>
            <a:ext cx="4057836" cy="81935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46898B-A5E9-473F-9C7A-251AECDF81A2}"/>
              </a:ext>
            </a:extLst>
          </p:cNvPr>
          <p:cNvSpPr/>
          <p:nvPr/>
        </p:nvSpPr>
        <p:spPr>
          <a:xfrm>
            <a:off x="237061" y="5549565"/>
            <a:ext cx="4057836" cy="26424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E3C970E-59C1-8EB0-C674-AB8FBC1E41FC}"/>
              </a:ext>
            </a:extLst>
          </p:cNvPr>
          <p:cNvSpPr/>
          <p:nvPr/>
        </p:nvSpPr>
        <p:spPr>
          <a:xfrm>
            <a:off x="237061" y="6061489"/>
            <a:ext cx="1945374" cy="19433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541A1B-EED4-182B-BF36-E0D567786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641" y="5361424"/>
            <a:ext cx="813521" cy="103099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178761D-C9ED-BA15-1173-93AA46107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46" y="1851554"/>
            <a:ext cx="1077594" cy="15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18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8D20FAAC-EE27-3B69-D014-E4EF8FA5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6" y="19422"/>
            <a:ext cx="6981825" cy="15621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E5CA667-495F-17C7-B894-BD66A385E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90" y="2066802"/>
            <a:ext cx="2800350" cy="384810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3396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Create REQUEST Ticket #2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4387664" y="1952662"/>
            <a:ext cx="5410217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8. Linked Issues (Optional)</a:t>
            </a:r>
          </a:p>
          <a:p>
            <a:r>
              <a:rPr lang="en-US" altLang="ko-KR" sz="800" i="0" dirty="0">
                <a:solidFill>
                  <a:srgbClr val="374151"/>
                </a:solidFill>
                <a:effectLst/>
                <a:latin typeface="Söhne"/>
              </a:rPr>
              <a:t>If 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your request is related to other tickets, set up a link to the tickets.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This action could help NTQ understand your request.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9. Due Date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you have desired date of completion, select a date.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Be advised that this date is just for reference in sorting jobs in the order of priority.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10. Assignee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Select PM you would assign the ticket to (</a:t>
            </a:r>
            <a:r>
              <a:rPr lang="en-US" altLang="ko-KR" sz="800" dirty="0" err="1">
                <a:solidFill>
                  <a:srgbClr val="374151"/>
                </a:solidFill>
                <a:latin typeface="Söhne"/>
              </a:rPr>
              <a:t>Minsu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 Kim or Alex).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- </a:t>
            </a:r>
            <a:r>
              <a:rPr lang="en-US" altLang="ko-KR" sz="800" dirty="0" err="1">
                <a:solidFill>
                  <a:srgbClr val="374151"/>
                </a:solidFill>
                <a:latin typeface="Söhne"/>
              </a:rPr>
              <a:t>Minsu</a:t>
            </a:r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 Kim  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	                       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- Alex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11. Referrer (Optional)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Select anyone who you think is relevant to the request.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12. Create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the button to finish creating the ticket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2919762" y="227549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8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2928979" y="3240176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9</a:t>
            </a:r>
            <a:endParaRPr lang="ko-KR" altLang="en-US" sz="5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37AF89-C7DF-65FC-8495-9927E1E668BE}"/>
              </a:ext>
            </a:extLst>
          </p:cNvPr>
          <p:cNvSpPr/>
          <p:nvPr/>
        </p:nvSpPr>
        <p:spPr>
          <a:xfrm>
            <a:off x="2919762" y="4517812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10</a:t>
            </a:r>
            <a:endParaRPr lang="ko-KR" altLang="en-US" sz="5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B86850-C698-EAC8-E069-D5780CA1461F}"/>
              </a:ext>
            </a:extLst>
          </p:cNvPr>
          <p:cNvSpPr/>
          <p:nvPr/>
        </p:nvSpPr>
        <p:spPr>
          <a:xfrm>
            <a:off x="2919002" y="5341252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11</a:t>
            </a:r>
            <a:endParaRPr lang="ko-KR" altLang="en-US" sz="5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BD236E-BE69-E7F6-0004-742691937A73}"/>
              </a:ext>
            </a:extLst>
          </p:cNvPr>
          <p:cNvSpPr/>
          <p:nvPr/>
        </p:nvSpPr>
        <p:spPr>
          <a:xfrm>
            <a:off x="6248582" y="12689"/>
            <a:ext cx="1513658" cy="786564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899EA6-580E-B1DB-4A5F-F7FEE45467FE}"/>
              </a:ext>
            </a:extLst>
          </p:cNvPr>
          <p:cNvSpPr/>
          <p:nvPr/>
        </p:nvSpPr>
        <p:spPr>
          <a:xfrm>
            <a:off x="238453" y="2275495"/>
            <a:ext cx="2667307" cy="66403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C6DF15-8AF1-50D5-DE93-7CB0C006E3B8}"/>
              </a:ext>
            </a:extLst>
          </p:cNvPr>
          <p:cNvSpPr/>
          <p:nvPr/>
        </p:nvSpPr>
        <p:spPr>
          <a:xfrm>
            <a:off x="257322" y="3240176"/>
            <a:ext cx="2662440" cy="28873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46E310-79DF-2A6C-A632-7FDC852096CA}"/>
              </a:ext>
            </a:extLst>
          </p:cNvPr>
          <p:cNvSpPr/>
          <p:nvPr/>
        </p:nvSpPr>
        <p:spPr>
          <a:xfrm>
            <a:off x="257322" y="4520931"/>
            <a:ext cx="2648438" cy="28873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46898B-A5E9-473F-9C7A-251AECDF81A2}"/>
              </a:ext>
            </a:extLst>
          </p:cNvPr>
          <p:cNvSpPr/>
          <p:nvPr/>
        </p:nvSpPr>
        <p:spPr>
          <a:xfrm>
            <a:off x="257322" y="5345845"/>
            <a:ext cx="2648438" cy="28873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F1A43A-0DB7-B3B9-AAA5-C5E3775B0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315" y="5993885"/>
            <a:ext cx="1343025" cy="45720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BB4080-7163-B527-6631-2A006D0B9DF0}"/>
              </a:ext>
            </a:extLst>
          </p:cNvPr>
          <p:cNvSpPr/>
          <p:nvPr/>
        </p:nvSpPr>
        <p:spPr>
          <a:xfrm>
            <a:off x="2451947" y="6105212"/>
            <a:ext cx="531773" cy="254947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6187D2-9CA9-AA4B-C172-DBE3036A05DC}"/>
              </a:ext>
            </a:extLst>
          </p:cNvPr>
          <p:cNvSpPr/>
          <p:nvPr/>
        </p:nvSpPr>
        <p:spPr>
          <a:xfrm>
            <a:off x="3000328" y="6105212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12</a:t>
            </a:r>
            <a:endParaRPr lang="ko-KR" altLang="en-US" sz="5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A934F3E-40C1-DD23-BD76-C3A150BB5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962" y="4006226"/>
            <a:ext cx="1200150" cy="28575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7D77D1A-F1D4-CD37-6C35-007CF86A3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962" y="4592378"/>
            <a:ext cx="14192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99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6B6C5-665A-EC1E-A3E5-00295B5BB67A}"/>
              </a:ext>
            </a:extLst>
          </p:cNvPr>
          <p:cNvSpPr txBox="1"/>
          <p:nvPr/>
        </p:nvSpPr>
        <p:spPr>
          <a:xfrm>
            <a:off x="0" y="2958181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600" dirty="0">
                <a:solidFill>
                  <a:srgbClr val="374151"/>
                </a:solidFill>
                <a:latin typeface="Söhne"/>
              </a:rPr>
              <a:t>Manage </a:t>
            </a:r>
            <a:r>
              <a:rPr lang="en-US" altLang="ko-KR" sz="6600" b="1" dirty="0">
                <a:solidFill>
                  <a:srgbClr val="374151"/>
                </a:solidFill>
                <a:latin typeface="Söhne"/>
              </a:rPr>
              <a:t>REQUEST</a:t>
            </a:r>
            <a:r>
              <a:rPr lang="en-US" altLang="ko-KR" sz="6600" dirty="0">
                <a:solidFill>
                  <a:srgbClr val="374151"/>
                </a:solidFill>
                <a:latin typeface="Söhne"/>
              </a:rPr>
              <a:t> tickets</a:t>
            </a:r>
          </a:p>
        </p:txBody>
      </p:sp>
    </p:spTree>
    <p:extLst>
      <p:ext uri="{BB962C8B-B14F-4D97-AF65-F5344CB8AC3E}">
        <p14:creationId xmlns:p14="http://schemas.microsoft.com/office/powerpoint/2010/main" val="419881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43C313C-253C-7FAA-46EA-CD95F81B8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6" y="19422"/>
            <a:ext cx="6981825" cy="15621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AB86296-924F-4BC2-3AA6-4A6CC94BE709}"/>
              </a:ext>
            </a:extLst>
          </p:cNvPr>
          <p:cNvSpPr/>
          <p:nvPr/>
        </p:nvSpPr>
        <p:spPr>
          <a:xfrm>
            <a:off x="10857653" y="887307"/>
            <a:ext cx="1296518" cy="65574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437444C-B59F-6B30-1837-52C8103B0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73" y="2222645"/>
            <a:ext cx="1838325" cy="44291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A10E17-C6F7-46EF-1406-D4FE3DD0E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726" y="1547562"/>
            <a:ext cx="6461856" cy="77174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498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Manage REQUEST Ticket #1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6371630" y="2430357"/>
            <a:ext cx="5410217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*How to find your ticket</a:t>
            </a: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 </a:t>
            </a:r>
          </a:p>
          <a:p>
            <a:endParaRPr lang="en-US" altLang="ko-KR" sz="800" b="1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To see ALL Tickets (Issues)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“Issues” at the top and you will be able to see a whole list of all tickets (issues)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To see Tickets assigned to you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“My open issues” to see tickets that are assigned to you 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(waiting for your part to be done or waiting for your reply)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To see Tickets created by you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“Reported by me” to see tickets that are created by you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5555738" y="1543050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1146508" y="4005047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341435-7E9F-9865-C648-DEEB4AFFE168}"/>
              </a:ext>
            </a:extLst>
          </p:cNvPr>
          <p:cNvSpPr/>
          <p:nvPr/>
        </p:nvSpPr>
        <p:spPr>
          <a:xfrm>
            <a:off x="1146508" y="4322922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FE1882-A4B4-A78D-0106-9FF015FEF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1552" y="1653271"/>
            <a:ext cx="1503083" cy="2929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023EB2-4B18-7583-A0FD-442676411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04" y="2980309"/>
            <a:ext cx="1116120" cy="21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82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4ADBC22-08F5-408D-1DE9-53510355D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6" y="19422"/>
            <a:ext cx="6981825" cy="15621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1026632-1C85-5238-8273-4C732D7F0D5F}"/>
              </a:ext>
            </a:extLst>
          </p:cNvPr>
          <p:cNvSpPr/>
          <p:nvPr/>
        </p:nvSpPr>
        <p:spPr>
          <a:xfrm>
            <a:off x="10857653" y="887307"/>
            <a:ext cx="1296518" cy="65574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13B83D-DDBB-6831-72FA-D4666A029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0" y="1543050"/>
            <a:ext cx="5575458" cy="170278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498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Manage REQUEST Ticket #2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6378404" y="1912835"/>
            <a:ext cx="5410217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*Select a ticket to manage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Select a ticket 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Click one of the issues that is assigned to you.</a:t>
            </a:r>
          </a:p>
          <a:p>
            <a:endParaRPr lang="en-US" altLang="ko-KR" sz="800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Ticket screen</a:t>
            </a:r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Your web browser will take you to a screen where you can see all information about the ticket.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* Detailed explanation is in the next PPT.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5352116" y="2380897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4546579" y="3632676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9154E1-ABF3-EA60-A231-4D28A164F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19" y="3652995"/>
            <a:ext cx="3683021" cy="312552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6DEAAF06-2E4A-9BB3-1E51-D955156C0EE3}"/>
              </a:ext>
            </a:extLst>
          </p:cNvPr>
          <p:cNvSpPr/>
          <p:nvPr/>
        </p:nvSpPr>
        <p:spPr>
          <a:xfrm>
            <a:off x="2495436" y="3275392"/>
            <a:ext cx="332156" cy="3072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486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BACF408-148F-BA4C-B5AD-7948142AC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6" y="19422"/>
            <a:ext cx="6981825" cy="1562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2FE0052-6D3E-541B-4C89-859A93B4B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73" y="1082504"/>
            <a:ext cx="5948873" cy="241892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490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Manage REQUEST Ticket #3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485BF9-4076-4BBA-2BBA-BC1FFCE31552}"/>
              </a:ext>
            </a:extLst>
          </p:cNvPr>
          <p:cNvSpPr/>
          <p:nvPr/>
        </p:nvSpPr>
        <p:spPr>
          <a:xfrm>
            <a:off x="6378404" y="1912835"/>
            <a:ext cx="5410217" cy="416193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*Understanding the ticket screen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1. Index number of the ticket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Ticket number automatically generated when the ticket is created.</a:t>
            </a:r>
          </a:p>
          <a:p>
            <a:endParaRPr lang="en-US" altLang="ko-KR" sz="800" b="1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2. Summary</a:t>
            </a:r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What you entered in the summary field when creating the ticket will be shown here.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Description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What you have entered in the description field when creating the ticket will be shown here.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4. Feedback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Questions or answers about the inquiry will be recorded here.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5. Returning Feedback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you need to reply, write your comments or attach files here.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(While writing a comment, enter @ and type a name to notify the person you answer to, for a hasten progress)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629059" y="1112243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2532364" y="1305069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341435-7E9F-9865-C648-DEEB4AFFE168}"/>
              </a:ext>
            </a:extLst>
          </p:cNvPr>
          <p:cNvSpPr/>
          <p:nvPr/>
        </p:nvSpPr>
        <p:spPr>
          <a:xfrm>
            <a:off x="2627549" y="2593869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A18E26-63BF-0BEE-2930-EC0B2EED6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3" y="3679925"/>
            <a:ext cx="4334933" cy="179678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E8AA35-361A-0CAD-2505-1F5CB6EEC45F}"/>
              </a:ext>
            </a:extLst>
          </p:cNvPr>
          <p:cNvSpPr/>
          <p:nvPr/>
        </p:nvSpPr>
        <p:spPr>
          <a:xfrm>
            <a:off x="26589" y="2593869"/>
            <a:ext cx="2594187" cy="473083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DC3D15-D961-41FE-70E7-4CCE1E8683A7}"/>
              </a:ext>
            </a:extLst>
          </p:cNvPr>
          <p:cNvSpPr/>
          <p:nvPr/>
        </p:nvSpPr>
        <p:spPr>
          <a:xfrm>
            <a:off x="33003" y="1307252"/>
            <a:ext cx="2486677" cy="1820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32B502-4481-7606-9921-9FBCD9AD7B60}"/>
              </a:ext>
            </a:extLst>
          </p:cNvPr>
          <p:cNvSpPr/>
          <p:nvPr/>
        </p:nvSpPr>
        <p:spPr>
          <a:xfrm>
            <a:off x="33004" y="1123977"/>
            <a:ext cx="583370" cy="15377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3EA09A-763F-0DF4-2B07-FD3F7B5A1265}"/>
              </a:ext>
            </a:extLst>
          </p:cNvPr>
          <p:cNvSpPr/>
          <p:nvPr/>
        </p:nvSpPr>
        <p:spPr>
          <a:xfrm>
            <a:off x="52818" y="5057981"/>
            <a:ext cx="4315117" cy="77028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3879A5-FC4C-99F7-4F82-2B4DBB4CB6CA}"/>
              </a:ext>
            </a:extLst>
          </p:cNvPr>
          <p:cNvSpPr/>
          <p:nvPr/>
        </p:nvSpPr>
        <p:spPr>
          <a:xfrm>
            <a:off x="4377844" y="5057981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4</a:t>
            </a:r>
            <a:endParaRPr lang="ko-KR" altLang="en-US" sz="5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5AEA52-8A0F-321E-D5F7-AC7A74B05BD2}"/>
              </a:ext>
            </a:extLst>
          </p:cNvPr>
          <p:cNvSpPr/>
          <p:nvPr/>
        </p:nvSpPr>
        <p:spPr>
          <a:xfrm>
            <a:off x="52319" y="4706427"/>
            <a:ext cx="4325525" cy="31146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AD6BD7-89C0-DD21-93BC-C0CBFB6F0528}"/>
              </a:ext>
            </a:extLst>
          </p:cNvPr>
          <p:cNvSpPr/>
          <p:nvPr/>
        </p:nvSpPr>
        <p:spPr>
          <a:xfrm>
            <a:off x="4377844" y="4706427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5</a:t>
            </a:r>
            <a:endParaRPr lang="ko-KR" altLang="en-US" sz="5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AB378E-74EC-1F40-9328-7D6F0F93C284}"/>
              </a:ext>
            </a:extLst>
          </p:cNvPr>
          <p:cNvSpPr/>
          <p:nvPr/>
        </p:nvSpPr>
        <p:spPr>
          <a:xfrm>
            <a:off x="10857653" y="887307"/>
            <a:ext cx="1296518" cy="65574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222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DE006C9A-3871-F674-5909-AECAC71C0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6" y="19422"/>
            <a:ext cx="6981825" cy="15621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41C08E1-A036-403F-7218-B2EF78C59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54" y="2029777"/>
            <a:ext cx="3845359" cy="371808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490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Manage REQUEST Ticket #4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1293706" y="206914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3227876" y="3131496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DC3D15-D961-41FE-70E7-4CCE1E8683A7}"/>
              </a:ext>
            </a:extLst>
          </p:cNvPr>
          <p:cNvSpPr/>
          <p:nvPr/>
        </p:nvSpPr>
        <p:spPr>
          <a:xfrm>
            <a:off x="466497" y="3131878"/>
            <a:ext cx="2750836" cy="1820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32B502-4481-7606-9921-9FBCD9AD7B60}"/>
              </a:ext>
            </a:extLst>
          </p:cNvPr>
          <p:cNvSpPr/>
          <p:nvPr/>
        </p:nvSpPr>
        <p:spPr>
          <a:xfrm>
            <a:off x="387974" y="2069145"/>
            <a:ext cx="898960" cy="24614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3EA09A-763F-0DF4-2B07-FD3F7B5A1265}"/>
              </a:ext>
            </a:extLst>
          </p:cNvPr>
          <p:cNvSpPr/>
          <p:nvPr/>
        </p:nvSpPr>
        <p:spPr>
          <a:xfrm>
            <a:off x="467814" y="5016657"/>
            <a:ext cx="2620238" cy="20678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AB378E-74EC-1F40-9328-7D6F0F93C284}"/>
              </a:ext>
            </a:extLst>
          </p:cNvPr>
          <p:cNvSpPr/>
          <p:nvPr/>
        </p:nvSpPr>
        <p:spPr>
          <a:xfrm>
            <a:off x="10871199" y="887307"/>
            <a:ext cx="1296518" cy="65574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E9593E-596D-ADF5-049E-A6C2944452A8}"/>
              </a:ext>
            </a:extLst>
          </p:cNvPr>
          <p:cNvSpPr/>
          <p:nvPr/>
        </p:nvSpPr>
        <p:spPr>
          <a:xfrm>
            <a:off x="3099183" y="5016657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AA0346-F654-5A0E-7B3D-A19083DBA88B}"/>
              </a:ext>
            </a:extLst>
          </p:cNvPr>
          <p:cNvSpPr/>
          <p:nvPr/>
        </p:nvSpPr>
        <p:spPr>
          <a:xfrm>
            <a:off x="5447436" y="1797967"/>
            <a:ext cx="5410217" cy="47882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*Changing Status and Assignee of the ticket</a:t>
            </a:r>
          </a:p>
          <a:p>
            <a:endParaRPr lang="en-US" altLang="ko-KR" sz="800" b="1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105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*In TEST (BETA) stage, you must perform test on BETA environment in coordination with NTQ.</a:t>
            </a:r>
          </a:p>
          <a:p>
            <a:r>
              <a:rPr lang="en-US" altLang="ko-KR" sz="105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You should compile and report all bugs and shortcomings to NTQ for corrections.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 ~ 2. Status and assignee Change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you find that your request’s requirements are not met: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Change status to “SELECTED FOR DEVELOPMENT”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     	- Assign to PM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Write comments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the test result is flawless: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Assign to PM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Write comments that your side’s test is completed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Ask NTQ to upload ‘DEPLOYMENT REQUEST’ to the comment field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b="1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Date of deployment to the PROD environment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The date of deployment to be entered by HQ.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*Please keep the date in your mind as you need to test on PROD environment on the date of deployment.</a:t>
            </a:r>
          </a:p>
        </p:txBody>
      </p:sp>
    </p:spTree>
    <p:extLst>
      <p:ext uri="{BB962C8B-B14F-4D97-AF65-F5344CB8AC3E}">
        <p14:creationId xmlns:p14="http://schemas.microsoft.com/office/powerpoint/2010/main" val="3556207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78011A-6F3D-7AE0-3847-D0921D8FD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6" y="19422"/>
            <a:ext cx="6981825" cy="15621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41C08E1-A036-403F-7218-B2EF78C59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54" y="2029777"/>
            <a:ext cx="3845359" cy="371808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490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Manage REQUEST Ticket #5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1293706" y="206914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9E0630-144D-8E8D-5AD0-D3D7286809BF}"/>
              </a:ext>
            </a:extLst>
          </p:cNvPr>
          <p:cNvSpPr/>
          <p:nvPr/>
        </p:nvSpPr>
        <p:spPr>
          <a:xfrm>
            <a:off x="3227876" y="3131496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2</a:t>
            </a:r>
            <a:endParaRPr lang="ko-KR" altLang="en-US" sz="5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DC3D15-D961-41FE-70E7-4CCE1E8683A7}"/>
              </a:ext>
            </a:extLst>
          </p:cNvPr>
          <p:cNvSpPr/>
          <p:nvPr/>
        </p:nvSpPr>
        <p:spPr>
          <a:xfrm>
            <a:off x="466497" y="3131878"/>
            <a:ext cx="2750836" cy="1820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32B502-4481-7606-9921-9FBCD9AD7B60}"/>
              </a:ext>
            </a:extLst>
          </p:cNvPr>
          <p:cNvSpPr/>
          <p:nvPr/>
        </p:nvSpPr>
        <p:spPr>
          <a:xfrm>
            <a:off x="387974" y="2069145"/>
            <a:ext cx="898960" cy="24614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3EA09A-763F-0DF4-2B07-FD3F7B5A1265}"/>
              </a:ext>
            </a:extLst>
          </p:cNvPr>
          <p:cNvSpPr/>
          <p:nvPr/>
        </p:nvSpPr>
        <p:spPr>
          <a:xfrm>
            <a:off x="467814" y="5016657"/>
            <a:ext cx="2620238" cy="20678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AB378E-74EC-1F40-9328-7D6F0F93C284}"/>
              </a:ext>
            </a:extLst>
          </p:cNvPr>
          <p:cNvSpPr/>
          <p:nvPr/>
        </p:nvSpPr>
        <p:spPr>
          <a:xfrm>
            <a:off x="6346612" y="831850"/>
            <a:ext cx="1320800" cy="78020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E9593E-596D-ADF5-049E-A6C2944452A8}"/>
              </a:ext>
            </a:extLst>
          </p:cNvPr>
          <p:cNvSpPr/>
          <p:nvPr/>
        </p:nvSpPr>
        <p:spPr>
          <a:xfrm>
            <a:off x="3099183" y="5016657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3</a:t>
            </a:r>
            <a:endParaRPr lang="ko-KR" altLang="en-US" sz="5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AA0346-F654-5A0E-7B3D-A19083DBA88B}"/>
              </a:ext>
            </a:extLst>
          </p:cNvPr>
          <p:cNvSpPr/>
          <p:nvPr/>
        </p:nvSpPr>
        <p:spPr>
          <a:xfrm>
            <a:off x="5447436" y="1797967"/>
            <a:ext cx="5410217" cy="47882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*Changing Status and Assignee of the ticket</a:t>
            </a:r>
          </a:p>
          <a:p>
            <a:endParaRPr lang="en-US" altLang="ko-KR" sz="800" b="1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105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*In TEST (BETA) stage, you must perform test on BETA environment in coordination with NTQ.</a:t>
            </a:r>
          </a:p>
          <a:p>
            <a:r>
              <a:rPr lang="en-US" altLang="ko-KR" sz="105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You should compile and report all bugs and shortcomings to NTQ for corrections.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1 ~ 2. Status and assignee Change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you find that your request’s requirements are not met: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Change status to “SELECTED FOR DEVELOPMENT”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     	- Assign to PM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Write comments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If the test result is flawless: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Assign to PM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Write comments that your side’s test is completed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	- Ask NTQ to upload ‘DEPLOYMENT REQUEST’ to the comment field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b="1" u="sng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u="sng" dirty="0">
                <a:solidFill>
                  <a:srgbClr val="374151"/>
                </a:solidFill>
                <a:latin typeface="Söhne"/>
              </a:rPr>
              <a:t>3. Date of deployment to the PROD environment</a:t>
            </a:r>
          </a:p>
          <a:p>
            <a:r>
              <a:rPr lang="en-US" altLang="ko-KR" sz="800" dirty="0">
                <a:solidFill>
                  <a:srgbClr val="374151"/>
                </a:solidFill>
                <a:latin typeface="Söhne"/>
              </a:rPr>
              <a:t>The date of deployment to be entered by HQ.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*Please keep the date in your mind as you need to test on PROD environment on the date of deployment.</a:t>
            </a:r>
          </a:p>
        </p:txBody>
      </p:sp>
    </p:spTree>
    <p:extLst>
      <p:ext uri="{BB962C8B-B14F-4D97-AF65-F5344CB8AC3E}">
        <p14:creationId xmlns:p14="http://schemas.microsoft.com/office/powerpoint/2010/main" val="230481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EDE1615-AC8F-D0D0-67B1-7E77B1E1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56" y="19422"/>
            <a:ext cx="6981825" cy="1562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107EAAD-2AD1-B0C5-6C35-F784CBD0B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74" y="1990356"/>
            <a:ext cx="3928780" cy="378052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A0971DA-1895-83A9-1C61-E049EA763326}"/>
              </a:ext>
            </a:extLst>
          </p:cNvPr>
          <p:cNvSpPr txBox="1"/>
          <p:nvPr/>
        </p:nvSpPr>
        <p:spPr>
          <a:xfrm>
            <a:off x="114250" y="79485"/>
            <a:ext cx="4490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highlight>
                  <a:srgbClr val="FFFF00"/>
                </a:highlight>
              </a:rPr>
              <a:t>JIRA Guide – TW) Manage REQUEST Ticket #6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E25D21-1F1E-A362-4898-7D728E75213B}"/>
              </a:ext>
            </a:extLst>
          </p:cNvPr>
          <p:cNvSpPr/>
          <p:nvPr/>
        </p:nvSpPr>
        <p:spPr>
          <a:xfrm>
            <a:off x="1320798" y="2069145"/>
            <a:ext cx="257386" cy="1692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32B502-4481-7606-9921-9FBCD9AD7B60}"/>
              </a:ext>
            </a:extLst>
          </p:cNvPr>
          <p:cNvSpPr/>
          <p:nvPr/>
        </p:nvSpPr>
        <p:spPr>
          <a:xfrm>
            <a:off x="415066" y="2069145"/>
            <a:ext cx="898960" cy="22701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AB378E-74EC-1F40-9328-7D6F0F93C284}"/>
              </a:ext>
            </a:extLst>
          </p:cNvPr>
          <p:cNvSpPr/>
          <p:nvPr/>
        </p:nvSpPr>
        <p:spPr>
          <a:xfrm>
            <a:off x="6346612" y="825077"/>
            <a:ext cx="1320800" cy="78020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AA0346-F654-5A0E-7B3D-A19083DBA88B}"/>
              </a:ext>
            </a:extLst>
          </p:cNvPr>
          <p:cNvSpPr/>
          <p:nvPr/>
        </p:nvSpPr>
        <p:spPr>
          <a:xfrm>
            <a:off x="5447436" y="1797967"/>
            <a:ext cx="5410217" cy="47882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*Changing Status and Assignee of the ticket will be processed by HQ at this stage</a:t>
            </a:r>
          </a:p>
          <a:p>
            <a:endParaRPr lang="en-US" altLang="ko-KR" sz="800" b="1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b="1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105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*In TEST (PROD) stage, </a:t>
            </a:r>
          </a:p>
          <a:p>
            <a:r>
              <a:rPr lang="en-US" altLang="ko-KR" sz="105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Test on PROD environment will be processed in coordination with all related personnel.  </a:t>
            </a:r>
          </a:p>
          <a:p>
            <a:r>
              <a:rPr lang="en-US" altLang="ko-KR" sz="1050" b="1" dirty="0">
                <a:solidFill>
                  <a:srgbClr val="FF0000"/>
                </a:solidFill>
                <a:highlight>
                  <a:srgbClr val="FFFF00"/>
                </a:highlight>
                <a:latin typeface="Söhne"/>
              </a:rPr>
              <a:t>All bugs and shortcomings must be compiled and reported to NTQ for emergency corrections before opening the system to public.</a:t>
            </a: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endParaRPr lang="en-US" altLang="ko-KR" sz="800" dirty="0">
              <a:solidFill>
                <a:srgbClr val="374151"/>
              </a:solidFill>
              <a:latin typeface="Söhne"/>
            </a:endParaRP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Once all test is complete and found flawless:</a:t>
            </a: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	- HQ will change status to done in coordination with the original requester</a:t>
            </a:r>
          </a:p>
          <a:p>
            <a:r>
              <a:rPr lang="en-US" altLang="ko-KR" sz="800" b="1" dirty="0">
                <a:solidFill>
                  <a:srgbClr val="374151"/>
                </a:solidFill>
                <a:latin typeface="Söhne"/>
              </a:rPr>
              <a:t>	- HQ will open the system to public</a:t>
            </a:r>
          </a:p>
        </p:txBody>
      </p:sp>
    </p:spTree>
    <p:extLst>
      <p:ext uri="{BB962C8B-B14F-4D97-AF65-F5344CB8AC3E}">
        <p14:creationId xmlns:p14="http://schemas.microsoft.com/office/powerpoint/2010/main" val="1027460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6B6C5-665A-EC1E-A3E5-00295B5BB67A}"/>
              </a:ext>
            </a:extLst>
          </p:cNvPr>
          <p:cNvSpPr txBox="1"/>
          <p:nvPr/>
        </p:nvSpPr>
        <p:spPr>
          <a:xfrm>
            <a:off x="0" y="2958181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600" b="1" dirty="0">
                <a:solidFill>
                  <a:srgbClr val="374151"/>
                </a:solidFill>
                <a:latin typeface="Söhne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935560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6056</TotalTime>
  <Words>2030</Words>
  <Application>Microsoft Office PowerPoint</Application>
  <PresentationFormat>와이드스크린</PresentationFormat>
  <Paragraphs>408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Söhne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이지해</dc:creator>
  <cp:lastModifiedBy>김대현</cp:lastModifiedBy>
  <cp:revision>15</cp:revision>
  <dcterms:created xsi:type="dcterms:W3CDTF">2023-11-09T05:08:32Z</dcterms:created>
  <dcterms:modified xsi:type="dcterms:W3CDTF">2024-01-26T07:49:23Z</dcterms:modified>
</cp:coreProperties>
</file>